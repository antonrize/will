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3832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171E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β</a:t>
            </a:r>
            <a:pPr algn="ctr" indent="0" marL="0">
              <a:buNone/>
            </a:pPr>
            <a:r>
              <a:rPr lang="en-US" sz="6000" b="1" baseline="30000" dirty="0">
                <a:solidFill>
                  <a:srgbClr val="171E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algn="ctr" indent="0" marL="0">
              <a:buNone/>
            </a:pPr>
            <a:r>
              <a:rPr lang="en-US" sz="6000" b="1" dirty="0">
                <a:solidFill>
                  <a:srgbClr val="171E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 β</a:t>
            </a:r>
            <a:pPr algn="ctr" indent="0" marL="0">
              <a:buNone/>
            </a:pPr>
            <a:r>
              <a:rPr lang="en-US" sz="6000" b="1" baseline="-40000" dirty="0">
                <a:solidFill>
                  <a:srgbClr val="171E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</a:t>
            </a:r>
            <a:pPr algn="ctr" indent="0" marL="0">
              <a:buNone/>
            </a:pPr>
            <a:r>
              <a:rPr lang="en-US" sz="6000" b="1" baseline="30000" dirty="0">
                <a:solidFill>
                  <a:srgbClr val="171E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algn="ctr" indent="0" marL="0">
              <a:buNone/>
            </a:pPr>
            <a:r>
              <a:rPr lang="en-US" sz="6000" b="1" dirty="0">
                <a:solidFill>
                  <a:srgbClr val="171E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1</a:t>
            </a:r>
            <a:endParaRPr lang="en-US" sz="6000" dirty="0"/>
          </a:p>
        </p:txBody>
      </p:sp>
      <p:sp>
        <p:nvSpPr>
          <p:cNvPr id="3" name="Shape 1"/>
          <p:cNvSpPr/>
          <p:nvPr/>
        </p:nvSpPr>
        <p:spPr>
          <a:xfrm>
            <a:off x="822960" y="960120"/>
            <a:ext cx="457200" cy="54864"/>
          </a:xfrm>
          <a:prstGeom prst="rect">
            <a:avLst/>
          </a:prstGeom>
          <a:solidFill>
            <a:srgbClr val="F4B740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143000"/>
            <a:ext cx="7498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EAEEF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Можно ли вывести ОТО естественно?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22960" y="26974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9A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 Relational Geometry за 40 минут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i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Шпаргалка ведущего · читать как подсказки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26480" y="38404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9A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38 мин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EAEEF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Карта разговора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8046720" cy="566928"/>
          </a:xfrm>
          <a:prstGeom prst="rect">
            <a:avLst/>
          </a:prstGeom>
          <a:solidFill>
            <a:srgbClr val="1A2147"/>
          </a:solidFill>
          <a:ln w="12700">
            <a:solidFill>
              <a:srgbClr val="2E386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801368"/>
            <a:ext cx="347472" cy="347472"/>
          </a:xfrm>
          <a:prstGeom prst="ellipse">
            <a:avLst/>
          </a:prstGeom>
          <a:solidFill>
            <a:srgbClr val="F4B740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18013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A0E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280160" y="1691640"/>
            <a:ext cx="5303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A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приём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178040" y="1828800"/>
            <a:ext cx="1188720" cy="292608"/>
          </a:xfrm>
          <a:prstGeom prst="roundRect">
            <a:avLst>
              <a:gd name="adj" fmla="val 15625"/>
            </a:avLst>
          </a:prstGeom>
          <a:solidFill>
            <a:srgbClr val="0F1430"/>
          </a:solidFill>
          <a:ln w="12700">
            <a:solidFill>
              <a:srgbClr val="47D6C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78040" y="182880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47D6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мин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368296"/>
            <a:ext cx="8046720" cy="566928"/>
          </a:xfrm>
          <a:prstGeom prst="rect">
            <a:avLst/>
          </a:prstGeom>
          <a:solidFill>
            <a:srgbClr val="1A2147"/>
          </a:solidFill>
          <a:ln w="12700">
            <a:solidFill>
              <a:srgbClr val="2E386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13232" y="2478024"/>
            <a:ext cx="347472" cy="347472"/>
          </a:xfrm>
          <a:prstGeom prst="ellipse">
            <a:avLst/>
          </a:prstGeom>
          <a:solidFill>
            <a:srgbClr val="F4B740"/>
          </a:solidFill>
          <a:ln/>
        </p:spPr>
      </p:sp>
      <p:sp>
        <p:nvSpPr>
          <p:cNvPr id="12" name="Text 10"/>
          <p:cNvSpPr/>
          <p:nvPr/>
        </p:nvSpPr>
        <p:spPr>
          <a:xfrm>
            <a:off x="713232" y="24780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A0E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280160" y="2368296"/>
            <a:ext cx="5303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A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Окружность → СТО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7178040" y="2505456"/>
            <a:ext cx="1188720" cy="292608"/>
          </a:xfrm>
          <a:prstGeom prst="roundRect">
            <a:avLst>
              <a:gd name="adj" fmla="val 15625"/>
            </a:avLst>
          </a:prstGeom>
          <a:solidFill>
            <a:srgbClr val="0F1430"/>
          </a:solidFill>
          <a:ln w="12700">
            <a:solidFill>
              <a:srgbClr val="47D6C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78040" y="2505456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47D6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мин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044952"/>
            <a:ext cx="8046720" cy="566928"/>
          </a:xfrm>
          <a:prstGeom prst="rect">
            <a:avLst/>
          </a:prstGeom>
          <a:solidFill>
            <a:srgbClr val="1A2147"/>
          </a:solidFill>
          <a:ln w="12700">
            <a:solidFill>
              <a:srgbClr val="2E386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13232" y="3154680"/>
            <a:ext cx="347472" cy="347472"/>
          </a:xfrm>
          <a:prstGeom prst="ellipse">
            <a:avLst/>
          </a:prstGeom>
          <a:solidFill>
            <a:srgbClr val="F4B740"/>
          </a:solidFill>
          <a:ln/>
        </p:spPr>
      </p:sp>
      <p:sp>
        <p:nvSpPr>
          <p:cNvPr id="18" name="Text 16"/>
          <p:cNvSpPr/>
          <p:nvPr/>
        </p:nvSpPr>
        <p:spPr>
          <a:xfrm>
            <a:off x="713232" y="31546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A0E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280160" y="3044952"/>
            <a:ext cx="5303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A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Сфера → фактор ОТО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7178040" y="3182112"/>
            <a:ext cx="1188720" cy="292608"/>
          </a:xfrm>
          <a:prstGeom prst="roundRect">
            <a:avLst>
              <a:gd name="adj" fmla="val 15625"/>
            </a:avLst>
          </a:prstGeom>
          <a:solidFill>
            <a:srgbClr val="0F1430"/>
          </a:solidFill>
          <a:ln w="12700">
            <a:solidFill>
              <a:srgbClr val="47D6C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78040" y="318211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47D6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мин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3721608"/>
            <a:ext cx="8046720" cy="566928"/>
          </a:xfrm>
          <a:prstGeom prst="rect">
            <a:avLst/>
          </a:prstGeom>
          <a:solidFill>
            <a:srgbClr val="1A2147"/>
          </a:solidFill>
          <a:ln w="12700">
            <a:solidFill>
              <a:srgbClr val="2E386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831336"/>
            <a:ext cx="347472" cy="347472"/>
          </a:xfrm>
          <a:prstGeom prst="ellipse">
            <a:avLst/>
          </a:prstGeom>
          <a:solidFill>
            <a:srgbClr val="F4B740"/>
          </a:solidFill>
          <a:ln/>
        </p:spPr>
      </p:sp>
      <p:sp>
        <p:nvSpPr>
          <p:cNvPr id="24" name="Text 22"/>
          <p:cNvSpPr/>
          <p:nvPr/>
        </p:nvSpPr>
        <p:spPr>
          <a:xfrm>
            <a:off x="713232" y="38313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A0E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1280160" y="3721608"/>
            <a:ext cx="5303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A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Перемножаем → GPS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7178040" y="3858768"/>
            <a:ext cx="1188720" cy="292608"/>
          </a:xfrm>
          <a:prstGeom prst="roundRect">
            <a:avLst>
              <a:gd name="adj" fmla="val 15625"/>
            </a:avLst>
          </a:prstGeom>
          <a:solidFill>
            <a:srgbClr val="0F1430"/>
          </a:solidFill>
          <a:ln w="12700">
            <a:solidFill>
              <a:srgbClr val="47D6C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78040" y="385876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47D6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мин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48640" y="4398264"/>
            <a:ext cx="8046720" cy="566928"/>
          </a:xfrm>
          <a:prstGeom prst="rect">
            <a:avLst/>
          </a:prstGeom>
          <a:solidFill>
            <a:srgbClr val="1A2147"/>
          </a:solidFill>
          <a:ln w="12700">
            <a:solidFill>
              <a:srgbClr val="2E386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13232" y="4507992"/>
            <a:ext cx="347472" cy="347472"/>
          </a:xfrm>
          <a:prstGeom prst="ellipse">
            <a:avLst/>
          </a:prstGeom>
          <a:solidFill>
            <a:srgbClr val="F4B740"/>
          </a:solidFill>
          <a:ln/>
        </p:spPr>
      </p:sp>
      <p:sp>
        <p:nvSpPr>
          <p:cNvPr id="30" name="Text 28"/>
          <p:cNvSpPr/>
          <p:nvPr/>
        </p:nvSpPr>
        <p:spPr>
          <a:xfrm>
            <a:off x="713232" y="45079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A0E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1280160" y="4398264"/>
            <a:ext cx="5303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A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Вопросы философа</a:t>
            </a:r>
            <a:endParaRPr lang="en-US" sz="1700" dirty="0"/>
          </a:p>
        </p:txBody>
      </p:sp>
      <p:sp>
        <p:nvSpPr>
          <p:cNvPr id="32" name="Shape 30"/>
          <p:cNvSpPr/>
          <p:nvPr/>
        </p:nvSpPr>
        <p:spPr>
          <a:xfrm>
            <a:off x="7178040" y="4535424"/>
            <a:ext cx="1188720" cy="292608"/>
          </a:xfrm>
          <a:prstGeom prst="roundRect">
            <a:avLst>
              <a:gd name="adj" fmla="val 15625"/>
            </a:avLst>
          </a:prstGeom>
          <a:solidFill>
            <a:srgbClr val="0F1430"/>
          </a:solidFill>
          <a:ln w="12700">
            <a:solidFill>
              <a:srgbClr val="47D6C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178040" y="4535424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47D6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мин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26480" y="38404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9A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только для тебя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EAEEF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Где быть честным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27632"/>
            <a:ext cx="8046720" cy="749808"/>
          </a:xfrm>
          <a:prstGeom prst="rect">
            <a:avLst/>
          </a:prstGeom>
          <a:solidFill>
            <a:srgbClr val="1A2147"/>
          </a:solidFill>
          <a:ln w="12700">
            <a:solidFill>
              <a:srgbClr val="2E386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27632"/>
            <a:ext cx="73152" cy="749808"/>
          </a:xfrm>
          <a:prstGeom prst="rect">
            <a:avLst/>
          </a:prstGeom>
          <a:solidFill>
            <a:srgbClr val="FF8C7A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627632"/>
            <a:ext cx="1417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8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ТВЁРДО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240280" y="1627632"/>
            <a:ext cx="6217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Фактор Лоренца и фактор Шварцшильда — это тождества, а не аналогии. Чистая алгебра.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496312"/>
            <a:ext cx="8046720" cy="749808"/>
          </a:xfrm>
          <a:prstGeom prst="rect">
            <a:avLst/>
          </a:prstGeom>
          <a:solidFill>
            <a:srgbClr val="1A2147"/>
          </a:solidFill>
          <a:ln w="12700">
            <a:solidFill>
              <a:srgbClr val="2E386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496312"/>
            <a:ext cx="73152" cy="749808"/>
          </a:xfrm>
          <a:prstGeom prst="rect">
            <a:avLst/>
          </a:prstGeom>
          <a:solidFill>
            <a:srgbClr val="FF8C7A"/>
          </a:solidFill>
          <a:ln/>
        </p:spPr>
      </p:sp>
      <p:sp>
        <p:nvSpPr>
          <p:cNvPr id="10" name="Text 8"/>
          <p:cNvSpPr/>
          <p:nvPr/>
        </p:nvSpPr>
        <p:spPr>
          <a:xfrm>
            <a:off x="749808" y="2496312"/>
            <a:ext cx="1417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8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МОСТЫ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240280" y="2496312"/>
            <a:ext cx="6217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 = v/c и κ = vₑ/c — это вход к измерению, а не вывод из ничего. Назови это прямо.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364992"/>
            <a:ext cx="8046720" cy="749808"/>
          </a:xfrm>
          <a:prstGeom prst="rect">
            <a:avLst/>
          </a:prstGeom>
          <a:solidFill>
            <a:srgbClr val="1A2147"/>
          </a:solidFill>
          <a:ln w="12700">
            <a:solidFill>
              <a:srgbClr val="2E386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3364992"/>
            <a:ext cx="73152" cy="749808"/>
          </a:xfrm>
          <a:prstGeom prst="rect">
            <a:avLst/>
          </a:prstGeom>
          <a:solidFill>
            <a:srgbClr val="FF8C7A"/>
          </a:solidFill>
          <a:ln/>
        </p:spPr>
      </p:sp>
      <p:sp>
        <p:nvSpPr>
          <p:cNvPr id="14" name="Text 12"/>
          <p:cNvSpPr/>
          <p:nvPr/>
        </p:nvSpPr>
        <p:spPr>
          <a:xfrm>
            <a:off x="749808" y="3364992"/>
            <a:ext cx="1417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8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ФАКТОР 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240280" y="3364992"/>
            <a:ext cx="6217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κ²=2β² для круговой орбиты — это просто v²=GM/r переписанное. Старая физика, новая запись.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4233672"/>
            <a:ext cx="8046720" cy="749808"/>
          </a:xfrm>
          <a:prstGeom prst="rect">
            <a:avLst/>
          </a:prstGeom>
          <a:solidFill>
            <a:srgbClr val="1A2147"/>
          </a:solidFill>
          <a:ln w="12700">
            <a:solidFill>
              <a:srgbClr val="2E386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4233672"/>
            <a:ext cx="73152" cy="749808"/>
          </a:xfrm>
          <a:prstGeom prst="rect">
            <a:avLst/>
          </a:prstGeom>
          <a:solidFill>
            <a:srgbClr val="FF8C7A"/>
          </a:solidFill>
          <a:ln/>
        </p:spPr>
      </p:sp>
      <p:sp>
        <p:nvSpPr>
          <p:cNvPr id="18" name="Text 16"/>
          <p:cNvSpPr/>
          <p:nvPr/>
        </p:nvSpPr>
        <p:spPr>
          <a:xfrm>
            <a:off x="749808" y="4233672"/>
            <a:ext cx="1417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8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ПРЕДЕЛ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240280" y="4233672"/>
            <a:ext cx="6217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совпадает с ОТО в 1-м порядке; разница ~10⁻⁹ — ниже точности. Согласованность, не предсказание.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146304" cy="146304"/>
          </a:xfrm>
          <a:prstGeom prst="rect">
            <a:avLst/>
          </a:prstGeom>
          <a:solidFill>
            <a:srgbClr val="F4B740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3657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 0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EAEEF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Единственный приём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i="1" dirty="0">
                <a:solidFill>
                  <a:srgbClr val="9A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начинай с онтологии — начни с вопроса.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8046720" cy="713232"/>
          </a:xfrm>
          <a:prstGeom prst="rect">
            <a:avLst/>
          </a:prstGeom>
          <a:solidFill>
            <a:srgbClr val="1A2147"/>
          </a:solidFill>
          <a:ln w="12700">
            <a:solidFill>
              <a:srgbClr val="2E386B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874520"/>
            <a:ext cx="73152" cy="713232"/>
          </a:xfrm>
          <a:prstGeom prst="rect">
            <a:avLst/>
          </a:prstGeom>
          <a:solidFill>
            <a:srgbClr val="47D6C3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1874520"/>
            <a:ext cx="7635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47D6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СПРОСИ ЕГО →  </a:t>
            </a:r>
            <a:endParaRPr lang="en-US" sz="12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500" i="1" dirty="0">
                <a:solidFill>
                  <a:srgbClr val="EA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«Ты хоть раз измерял энергию напрямую — не разницу, не изменение, а саму энергию?»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94360" y="2743200"/>
            <a:ext cx="4572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550" dirty="0">
                <a:solidFill>
                  <a:srgbClr val="EA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Сохраняющийся бюджет → нормируем к 1</a:t>
            </a:r>
            <a:endParaRPr lang="en-US" sz="15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550" dirty="0">
                <a:solidFill>
                  <a:srgbClr val="EA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Делим на две части — они обмениваются</a:t>
            </a:r>
            <a:endParaRPr lang="en-US" sz="15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550" dirty="0">
                <a:solidFill>
                  <a:srgbClr val="EA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Бюджет квадратичный → две проекции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5349240" y="2788920"/>
            <a:ext cx="3246120" cy="868680"/>
          </a:xfrm>
          <a:prstGeom prst="rect">
            <a:avLst/>
          </a:prstGeom>
          <a:solidFill>
            <a:srgbClr val="1A2147"/>
          </a:solidFill>
          <a:ln w="12700">
            <a:solidFill>
              <a:srgbClr val="2E386B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486400" y="278892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4B7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pPr algn="ctr" indent="0" marL="0">
              <a:buNone/>
            </a:pPr>
            <a:r>
              <a:rPr lang="en-US" sz="2800" b="1" baseline="30000" dirty="0">
                <a:solidFill>
                  <a:srgbClr val="F4B7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algn="ctr" indent="0" marL="0">
              <a:buNone/>
            </a:pPr>
            <a:r>
              <a:rPr lang="en-US" sz="2800" b="1" dirty="0">
                <a:solidFill>
                  <a:srgbClr val="F4B7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 b</a:t>
            </a:r>
            <a:pPr algn="ctr" indent="0" marL="0">
              <a:buNone/>
            </a:pPr>
            <a:r>
              <a:rPr lang="en-US" sz="2800" b="1" baseline="30000" dirty="0">
                <a:solidFill>
                  <a:srgbClr val="F4B7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algn="ctr" indent="0" marL="0">
              <a:buNone/>
            </a:pPr>
            <a:r>
              <a:rPr lang="en-US" sz="2800" b="1" dirty="0">
                <a:solidFill>
                  <a:srgbClr val="F4B7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1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5349240" y="367588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7D6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точка на единичной окружности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44348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Это вся машина. Дальше — только «что с чем меняется».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146304" cy="146304"/>
          </a:xfrm>
          <a:prstGeom prst="rect">
            <a:avLst/>
          </a:prstGeom>
          <a:solidFill>
            <a:srgbClr val="F4B740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3657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 1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EAEEF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Окружность даёт СТО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A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Одна степень свободы. «Темп изменения» тратится на: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94360" y="201168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EA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движение в пространстве  →  β</a:t>
            </a:r>
            <a:endParaRPr lang="en-US" sz="17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EA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внутренние часы / собственное время  →  βY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3154680"/>
            <a:ext cx="8046720" cy="566928"/>
          </a:xfrm>
          <a:prstGeom prst="rect">
            <a:avLst/>
          </a:prstGeom>
          <a:solidFill>
            <a:srgbClr val="1A2147"/>
          </a:solidFill>
          <a:ln w="12700">
            <a:solidFill>
              <a:srgbClr val="2E386B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2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3154680"/>
            <a:ext cx="73152" cy="566928"/>
          </a:xfrm>
          <a:prstGeom prst="rect">
            <a:avLst/>
          </a:prstGeom>
          <a:solidFill>
            <a:srgbClr val="47D6C3"/>
          </a:solidFill>
          <a:ln/>
        </p:spPr>
      </p:sp>
      <p:sp>
        <p:nvSpPr>
          <p:cNvPr id="9" name="Text 7"/>
          <p:cNvSpPr/>
          <p:nvPr/>
        </p:nvSpPr>
        <p:spPr>
          <a:xfrm>
            <a:off x="804672" y="3154680"/>
            <a:ext cx="7635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47D6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ДАЙ ЕМУ НАПИСАТЬ САМОМУ →  </a:t>
            </a:r>
            <a:endParaRPr lang="en-US" sz="12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500" i="1" dirty="0">
                <a:solidFill>
                  <a:srgbClr val="EA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сумма квадратов двух проекций равна единице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194560" y="3931920"/>
            <a:ext cx="4754880" cy="841248"/>
          </a:xfrm>
          <a:prstGeom prst="rect">
            <a:avLst/>
          </a:prstGeom>
          <a:solidFill>
            <a:srgbClr val="1A2147"/>
          </a:solidFill>
          <a:ln w="12700">
            <a:solidFill>
              <a:srgbClr val="2E386B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331720" y="3931920"/>
            <a:ext cx="4480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4B7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β</a:t>
            </a:r>
            <a:pPr algn="ctr" indent="0" marL="0">
              <a:buNone/>
            </a:pPr>
            <a:r>
              <a:rPr lang="en-US" sz="3000" b="1" baseline="30000" dirty="0">
                <a:solidFill>
                  <a:srgbClr val="F4B7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algn="ctr" indent="0" marL="0">
              <a:buNone/>
            </a:pPr>
            <a:r>
              <a:rPr lang="en-US" sz="3000" b="1" dirty="0">
                <a:solidFill>
                  <a:srgbClr val="F4B7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 β</a:t>
            </a:r>
            <a:pPr algn="ctr" indent="0" marL="0">
              <a:buNone/>
            </a:pPr>
            <a:r>
              <a:rPr lang="en-US" sz="3000" b="1" baseline="-40000" dirty="0">
                <a:solidFill>
                  <a:srgbClr val="F4B7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</a:t>
            </a:r>
            <a:pPr algn="ctr" indent="0" marL="0">
              <a:buNone/>
            </a:pPr>
            <a:r>
              <a:rPr lang="en-US" sz="3000" b="1" baseline="30000" dirty="0">
                <a:solidFill>
                  <a:srgbClr val="F4B7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algn="ctr" indent="0" marL="0">
              <a:buNone/>
            </a:pPr>
            <a:r>
              <a:rPr lang="en-US" sz="3000" b="1" dirty="0">
                <a:solidFill>
                  <a:srgbClr val="F4B7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1</a:t>
            </a:r>
            <a:endParaRPr lang="en-US" sz="3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146304" cy="146304"/>
          </a:xfrm>
          <a:prstGeom prst="rect">
            <a:avLst/>
          </a:prstGeom>
          <a:solidFill>
            <a:srgbClr val="F4B740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3657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 1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EAEEF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Фактор Лоренца выпадает сам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481328"/>
            <a:ext cx="8046720" cy="713232"/>
          </a:xfrm>
          <a:prstGeom prst="rect">
            <a:avLst/>
          </a:prstGeom>
          <a:solidFill>
            <a:srgbClr val="1A2147"/>
          </a:solidFill>
          <a:ln w="12700">
            <a:solidFill>
              <a:srgbClr val="2E386B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481328"/>
            <a:ext cx="73152" cy="713232"/>
          </a:xfrm>
          <a:prstGeom prst="rect">
            <a:avLst/>
          </a:prstGeom>
          <a:solidFill>
            <a:srgbClr val="47D6C3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1481328"/>
            <a:ext cx="7635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47D6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ЕДИНСТВЕННЫЙ МОСТ →  </a:t>
            </a:r>
            <a:endParaRPr lang="en-US" sz="12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500" i="1" dirty="0">
                <a:solidFill>
                  <a:srgbClr val="EA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«Какую долю предельного темпа объект тратит на движение?»   →   β = v/c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23317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A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Пусть решит второй катет: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554480" y="2670048"/>
            <a:ext cx="6035040" cy="841248"/>
          </a:xfrm>
          <a:prstGeom prst="rect">
            <a:avLst/>
          </a:prstGeom>
          <a:solidFill>
            <a:srgbClr val="1A2147"/>
          </a:solidFill>
          <a:ln w="12700">
            <a:solidFill>
              <a:srgbClr val="2E386B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2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691640" y="2670048"/>
            <a:ext cx="5760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4B7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β</a:t>
            </a:r>
            <a:pPr algn="ctr" indent="0" marL="0">
              <a:buNone/>
            </a:pPr>
            <a:r>
              <a:rPr lang="en-US" sz="2700" b="1" baseline="-40000" dirty="0">
                <a:solidFill>
                  <a:srgbClr val="F4B7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</a:t>
            </a:r>
            <a:pPr algn="ctr" indent="0" marL="0">
              <a:buNone/>
            </a:pPr>
            <a:r>
              <a:rPr lang="en-US" sz="2700" b="1" dirty="0">
                <a:solidFill>
                  <a:srgbClr val="F4B7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√(1 − v</a:t>
            </a:r>
            <a:pPr algn="ctr" indent="0" marL="0">
              <a:buNone/>
            </a:pPr>
            <a:r>
              <a:rPr lang="en-US" sz="2700" b="1" baseline="30000" dirty="0">
                <a:solidFill>
                  <a:srgbClr val="F4B7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algn="ctr" indent="0" marL="0">
              <a:buNone/>
            </a:pPr>
            <a:r>
              <a:rPr lang="en-US" sz="2700" b="1" dirty="0">
                <a:solidFill>
                  <a:srgbClr val="F4B7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</a:t>
            </a:r>
            <a:pPr algn="ctr" indent="0" marL="0">
              <a:buNone/>
            </a:pPr>
            <a:r>
              <a:rPr lang="en-US" sz="2700" b="1" baseline="30000" dirty="0">
                <a:solidFill>
                  <a:srgbClr val="F4B7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algn="ctr" indent="0" marL="0">
              <a:buNone/>
            </a:pPr>
            <a:r>
              <a:rPr lang="en-US" sz="2700" b="1" dirty="0">
                <a:solidFill>
                  <a:srgbClr val="F4B7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= 1/γ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548640" y="37033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Пауза. Он написал фактор Лоренца — не видя преобразований Лоренца.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48640" y="41605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A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Замедление времени = не «часы тормозят», а «бюджет ушёл на движение».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146304" cy="146304"/>
          </a:xfrm>
          <a:prstGeom prst="rect">
            <a:avLst/>
          </a:prstGeom>
          <a:solidFill>
            <a:srgbClr val="F4B740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3657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 1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EAEEF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Бонус — если он вовлечён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94360" y="16002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EA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Покоящийся катет зафиксирован:  E·βY = E₀</a:t>
            </a:r>
            <a:endParaRPr lang="en-US" sz="16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EA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 же теорема Пифагора на том же треугольнике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737360" y="2788920"/>
            <a:ext cx="5669280" cy="914400"/>
          </a:xfrm>
          <a:prstGeom prst="rect">
            <a:avLst/>
          </a:prstGeom>
          <a:solidFill>
            <a:srgbClr val="1A2147"/>
          </a:solidFill>
          <a:ln w="12700">
            <a:solidFill>
              <a:srgbClr val="2E386B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874520" y="278892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4B7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</a:t>
            </a:r>
            <a:pPr algn="ctr" indent="0" marL="0">
              <a:buNone/>
            </a:pPr>
            <a:r>
              <a:rPr lang="en-US" sz="2800" b="1" baseline="30000" dirty="0">
                <a:solidFill>
                  <a:srgbClr val="F4B7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algn="ctr" indent="0" marL="0">
              <a:buNone/>
            </a:pPr>
            <a:r>
              <a:rPr lang="en-US" sz="2800" b="1" dirty="0">
                <a:solidFill>
                  <a:srgbClr val="F4B7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(pc)</a:t>
            </a:r>
            <a:pPr algn="ctr" indent="0" marL="0">
              <a:buNone/>
            </a:pPr>
            <a:r>
              <a:rPr lang="en-US" sz="2800" b="1" baseline="30000" dirty="0">
                <a:solidFill>
                  <a:srgbClr val="F4B7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algn="ctr" indent="0" marL="0">
              <a:buNone/>
            </a:pPr>
            <a:r>
              <a:rPr lang="en-US" sz="2800" b="1" dirty="0">
                <a:solidFill>
                  <a:srgbClr val="F4B7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 (mc</a:t>
            </a:r>
            <a:pPr algn="ctr" indent="0" marL="0">
              <a:buNone/>
            </a:pPr>
            <a:r>
              <a:rPr lang="en-US" sz="2800" b="1" baseline="30000" dirty="0">
                <a:solidFill>
                  <a:srgbClr val="F4B7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algn="ctr" indent="0" marL="0">
              <a:buNone/>
            </a:pPr>
            <a:r>
              <a:rPr lang="en-US" sz="2800" b="1" dirty="0">
                <a:solidFill>
                  <a:srgbClr val="F4B7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algn="ctr" indent="0" marL="0">
              <a:buNone/>
            </a:pPr>
            <a:r>
              <a:rPr lang="en-US" sz="2800" b="1" baseline="30000" dirty="0">
                <a:solidFill>
                  <a:srgbClr val="F4B7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48640" y="40233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Знаменитое уравнение — тоже просто проекция.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146304" cy="146304"/>
          </a:xfrm>
          <a:prstGeom prst="rect">
            <a:avLst/>
          </a:prstGeom>
          <a:solidFill>
            <a:srgbClr val="F4B740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3657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 2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EAEEF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Тот же приём — на сфере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94360" y="160020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EA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Связь теперь всенаправленная (яма «смотрит» во все стороны) → сфера вместо окружности</a:t>
            </a:r>
            <a:endParaRPr lang="en-US" sz="16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EA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Берём срез — большой круг. Форма та же.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103120" y="3200400"/>
            <a:ext cx="4937760" cy="868680"/>
          </a:xfrm>
          <a:prstGeom prst="rect">
            <a:avLst/>
          </a:prstGeom>
          <a:solidFill>
            <a:srgbClr val="1A2147"/>
          </a:solidFill>
          <a:ln w="12700">
            <a:solidFill>
              <a:srgbClr val="2E386B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240280" y="3200400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4B7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κ</a:t>
            </a:r>
            <a:pPr algn="ctr" indent="0" marL="0">
              <a:buNone/>
            </a:pPr>
            <a:r>
              <a:rPr lang="en-US" sz="3000" b="1" baseline="30000" dirty="0">
                <a:solidFill>
                  <a:srgbClr val="F4B7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algn="ctr" indent="0" marL="0">
              <a:buNone/>
            </a:pPr>
            <a:r>
              <a:rPr lang="en-US" sz="3000" b="1" dirty="0">
                <a:solidFill>
                  <a:srgbClr val="F4B7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 κ</a:t>
            </a:r>
            <a:pPr algn="ctr" indent="0" marL="0">
              <a:buNone/>
            </a:pPr>
            <a:r>
              <a:rPr lang="en-US" sz="3000" b="1" baseline="-40000" dirty="0">
                <a:solidFill>
                  <a:srgbClr val="F4B7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pPr algn="ctr" indent="0" marL="0">
              <a:buNone/>
            </a:pPr>
            <a:r>
              <a:rPr lang="en-US" sz="3000" b="1" baseline="30000" dirty="0">
                <a:solidFill>
                  <a:srgbClr val="F4B7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algn="ctr" indent="0" marL="0">
              <a:buNone/>
            </a:pPr>
            <a:r>
              <a:rPr lang="en-US" sz="3000" b="1" dirty="0">
                <a:solidFill>
                  <a:srgbClr val="F4B7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1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48640" y="42519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47D6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 же геометрия — другая степень свободы.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146304" cy="146304"/>
          </a:xfrm>
          <a:prstGeom prst="rect">
            <a:avLst/>
          </a:prstGeom>
          <a:solidFill>
            <a:srgbClr val="F4B740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3657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 2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EAEEF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Фактор ОТО выпадает сам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8046720" cy="658368"/>
          </a:xfrm>
          <a:prstGeom prst="rect">
            <a:avLst/>
          </a:prstGeom>
          <a:solidFill>
            <a:srgbClr val="1A2147"/>
          </a:solidFill>
          <a:ln w="12700">
            <a:solidFill>
              <a:srgbClr val="2E386B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417320"/>
            <a:ext cx="73152" cy="658368"/>
          </a:xfrm>
          <a:prstGeom prst="rect">
            <a:avLst/>
          </a:prstGeom>
          <a:solidFill>
            <a:srgbClr val="FF8C7A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1417320"/>
            <a:ext cx="7635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FF8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ФЛАГ — ЭТО МОСТ →  </a:t>
            </a:r>
            <a:endParaRPr lang="en-US" sz="12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500" i="1" dirty="0">
                <a:solidFill>
                  <a:srgbClr val="EA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«С какой скоростью надо лететь, чтобы покинуть яму — в долях c?»   →   κ = v</a:t>
            </a:r>
            <a:pPr algn="l" indent="0" marL="0">
              <a:spcAft>
                <a:spcPts val="300"/>
              </a:spcAft>
              <a:buNone/>
            </a:pPr>
            <a:r>
              <a:rPr lang="en-US" sz="1500" i="1" baseline="-40000" dirty="0">
                <a:solidFill>
                  <a:srgbClr val="EA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pPr algn="l" indent="0" marL="0">
              <a:spcAft>
                <a:spcPts val="300"/>
              </a:spcAft>
              <a:buNone/>
            </a:pPr>
            <a:r>
              <a:rPr lang="en-US" sz="1500" i="1" dirty="0">
                <a:solidFill>
                  <a:srgbClr val="EA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/c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21945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9A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Ньютон уже даёт ½v</a:t>
            </a:r>
            <a:pPr indent="0" marL="0">
              <a:buNone/>
            </a:pPr>
            <a:r>
              <a:rPr lang="en-US" sz="1350" i="1" baseline="-40000" dirty="0">
                <a:solidFill>
                  <a:srgbClr val="9A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pPr indent="0" marL="0">
              <a:buNone/>
            </a:pPr>
            <a:r>
              <a:rPr lang="en-US" sz="1350" i="1" baseline="30000" dirty="0">
                <a:solidFill>
                  <a:srgbClr val="9A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pPr indent="0" marL="0">
              <a:buNone/>
            </a:pPr>
            <a:r>
              <a:rPr lang="en-US" sz="1350" i="1" dirty="0">
                <a:solidFill>
                  <a:srgbClr val="9A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GM/r, значит: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1417320" y="2523744"/>
            <a:ext cx="6309360" cy="603504"/>
          </a:xfrm>
          <a:prstGeom prst="rect">
            <a:avLst/>
          </a:prstGeom>
          <a:solidFill>
            <a:srgbClr val="1A2147"/>
          </a:solidFill>
          <a:ln w="12700">
            <a:solidFill>
              <a:srgbClr val="2E386B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2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554480" y="2523744"/>
            <a:ext cx="6035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4B7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κ</a:t>
            </a:r>
            <a:pPr algn="ctr" indent="0" marL="0">
              <a:buNone/>
            </a:pPr>
            <a:r>
              <a:rPr lang="en-US" sz="2200" b="1" baseline="30000" dirty="0">
                <a:solidFill>
                  <a:srgbClr val="F4B7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algn="ctr" indent="0" marL="0">
              <a:buNone/>
            </a:pPr>
            <a:r>
              <a:rPr lang="en-US" sz="2200" b="1" dirty="0">
                <a:solidFill>
                  <a:srgbClr val="F4B7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2GM/(rc</a:t>
            </a:r>
            <a:pPr algn="ctr" indent="0" marL="0">
              <a:buNone/>
            </a:pPr>
            <a:r>
              <a:rPr lang="en-US" sz="2200" b="1" baseline="30000" dirty="0">
                <a:solidFill>
                  <a:srgbClr val="F4B7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algn="ctr" indent="0" marL="0">
              <a:buNone/>
            </a:pPr>
            <a:r>
              <a:rPr lang="en-US" sz="2200" b="1" dirty="0">
                <a:solidFill>
                  <a:srgbClr val="F4B7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= R</a:t>
            </a:r>
            <a:pPr algn="ctr" indent="0" marL="0">
              <a:buNone/>
            </a:pPr>
            <a:r>
              <a:rPr lang="en-US" sz="2200" b="1" baseline="-40000" dirty="0">
                <a:solidFill>
                  <a:srgbClr val="F4B7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</a:t>
            </a:r>
            <a:pPr algn="ctr" indent="0" marL="0">
              <a:buNone/>
            </a:pPr>
            <a:r>
              <a:rPr lang="en-US" sz="2200" b="1" dirty="0">
                <a:solidFill>
                  <a:srgbClr val="F4B7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/r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48640" y="320040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9A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Пусть напишет второй катет: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1417320" y="3493008"/>
            <a:ext cx="6309360" cy="603504"/>
          </a:xfrm>
          <a:prstGeom prst="rect">
            <a:avLst/>
          </a:prstGeom>
          <a:solidFill>
            <a:srgbClr val="1A2147"/>
          </a:solidFill>
          <a:ln w="12700">
            <a:solidFill>
              <a:srgbClr val="2E386B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2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554480" y="3493008"/>
            <a:ext cx="6035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4B7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κ</a:t>
            </a:r>
            <a:pPr algn="ctr" indent="0" marL="0">
              <a:buNone/>
            </a:pPr>
            <a:r>
              <a:rPr lang="en-US" sz="2200" b="1" baseline="-40000" dirty="0">
                <a:solidFill>
                  <a:srgbClr val="F4B7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pPr algn="ctr" indent="0" marL="0">
              <a:buNone/>
            </a:pPr>
            <a:r>
              <a:rPr lang="en-US" sz="2200" b="1" dirty="0">
                <a:solidFill>
                  <a:srgbClr val="F4B7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√(1 − R</a:t>
            </a:r>
            <a:pPr algn="ctr" indent="0" marL="0">
              <a:buNone/>
            </a:pPr>
            <a:r>
              <a:rPr lang="en-US" sz="2200" b="1" baseline="-40000" dirty="0">
                <a:solidFill>
                  <a:srgbClr val="F4B7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</a:t>
            </a:r>
            <a:pPr algn="ctr" indent="0" marL="0">
              <a:buNone/>
            </a:pPr>
            <a:r>
              <a:rPr lang="en-US" sz="2200" b="1" dirty="0">
                <a:solidFill>
                  <a:srgbClr val="F4B7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/r) = dτ/dt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48640" y="420624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Это в точности шварцшильдовский g</a:t>
            </a:r>
            <a:pPr indent="0" marL="0">
              <a:buNone/>
            </a:pPr>
            <a:r>
              <a:rPr lang="en-US" sz="1500" b="1" baseline="-40000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</a:t>
            </a:r>
            <a:pPr indent="0" marL="0">
              <a:buNone/>
            </a:pPr>
            <a:r>
              <a:rPr lang="en-US" sz="1500" b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Он вывел результат ОТО.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00800" y="42062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i="1" dirty="0">
                <a:solidFill>
                  <a:srgbClr val="FF8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Отрепетируй эту фразу — решающий момент.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146304" cy="146304"/>
          </a:xfrm>
          <a:prstGeom prst="rect">
            <a:avLst/>
          </a:prstGeom>
          <a:solidFill>
            <a:srgbClr val="F4B740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3657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 3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EAEEF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Соединяем два эффекта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62763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A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Два независимых бюджета → перемножаем выжившие катеты: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14400" y="2240280"/>
            <a:ext cx="7315200" cy="914400"/>
          </a:xfrm>
          <a:prstGeom prst="rect">
            <a:avLst/>
          </a:prstGeom>
          <a:solidFill>
            <a:srgbClr val="1A2147"/>
          </a:solidFill>
          <a:ln w="12700">
            <a:solidFill>
              <a:srgbClr val="2E386B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51560" y="2240280"/>
            <a:ext cx="7040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4B7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τ = β</a:t>
            </a:r>
            <a:pPr algn="ctr" indent="0" marL="0">
              <a:buNone/>
            </a:pPr>
            <a:r>
              <a:rPr lang="en-US" sz="2500" b="1" baseline="-40000" dirty="0">
                <a:solidFill>
                  <a:srgbClr val="F4B7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</a:t>
            </a:r>
            <a:pPr algn="ctr" indent="0" marL="0">
              <a:buNone/>
            </a:pPr>
            <a:r>
              <a:rPr lang="en-US" sz="2500" b="1" dirty="0">
                <a:solidFill>
                  <a:srgbClr val="F4B7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· κ</a:t>
            </a:r>
            <a:pPr algn="ctr" indent="0" marL="0">
              <a:buNone/>
            </a:pPr>
            <a:r>
              <a:rPr lang="en-US" sz="2500" b="1" baseline="-40000" dirty="0">
                <a:solidFill>
                  <a:srgbClr val="F4B7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pPr algn="ctr" indent="0" marL="0">
              <a:buNone/>
            </a:pPr>
            <a:r>
              <a:rPr lang="en-US" sz="2500" b="1" dirty="0">
                <a:solidFill>
                  <a:srgbClr val="F4B7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√(1−β</a:t>
            </a:r>
            <a:pPr algn="ctr" indent="0" marL="0">
              <a:buNone/>
            </a:pPr>
            <a:r>
              <a:rPr lang="en-US" sz="2500" b="1" baseline="30000" dirty="0">
                <a:solidFill>
                  <a:srgbClr val="F4B7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algn="ctr" indent="0" marL="0">
              <a:buNone/>
            </a:pPr>
            <a:r>
              <a:rPr lang="en-US" sz="2500" b="1" dirty="0">
                <a:solidFill>
                  <a:srgbClr val="F4B7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· √(1−κ</a:t>
            </a:r>
            <a:pPr algn="ctr" indent="0" marL="0">
              <a:buNone/>
            </a:pPr>
            <a:r>
              <a:rPr lang="en-US" sz="2500" b="1" baseline="30000" dirty="0">
                <a:solidFill>
                  <a:srgbClr val="F4B7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algn="ctr" indent="0" marL="0">
              <a:buNone/>
            </a:pPr>
            <a:r>
              <a:rPr lang="en-US" sz="2500" b="1" dirty="0">
                <a:solidFill>
                  <a:srgbClr val="F4B7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548640" y="34290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EA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часов на поверхности и на орбите — свой τ.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548640" y="37947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Их отношение = сдвиг времени между часами.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146304" cy="146304"/>
          </a:xfrm>
          <a:prstGeom prst="rect">
            <a:avLst/>
          </a:prstGeom>
          <a:solidFill>
            <a:srgbClr val="F4B740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3657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 3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EAEEF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GPS — знаменитое число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3200400" cy="1417320"/>
          </a:xfrm>
          <a:prstGeom prst="rect">
            <a:avLst/>
          </a:prstGeom>
          <a:solidFill>
            <a:srgbClr val="1A2147"/>
          </a:solidFill>
          <a:ln w="12700">
            <a:solidFill>
              <a:srgbClr val="2E386B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64592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F4B7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38,5</a:t>
            </a:r>
            <a:endParaRPr lang="en-US" sz="5800" dirty="0"/>
          </a:p>
        </p:txBody>
      </p:sp>
      <p:sp>
        <p:nvSpPr>
          <p:cNvPr id="7" name="Text 5"/>
          <p:cNvSpPr/>
          <p:nvPr/>
        </p:nvSpPr>
        <p:spPr>
          <a:xfrm>
            <a:off x="548640" y="254203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A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мкс / сутки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977640" y="1554480"/>
            <a:ext cx="4617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Подставь числа: поверхность vs орбита ~20 200 км → реальная поправка, зашитая в систему.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200400"/>
            <a:ext cx="8046720" cy="1417320"/>
          </a:xfrm>
          <a:prstGeom prst="rect">
            <a:avLst/>
          </a:prstGeom>
          <a:solidFill>
            <a:srgbClr val="1A2147"/>
          </a:solidFill>
          <a:ln w="12700">
            <a:solidFill>
              <a:srgbClr val="2E386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3200400"/>
            <a:ext cx="73152" cy="1417320"/>
          </a:xfrm>
          <a:prstGeom prst="rect">
            <a:avLst/>
          </a:prstGeom>
          <a:solidFill>
            <a:srgbClr val="FF8C7A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291840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8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СКАЖИ ВСЛУХ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3584448"/>
            <a:ext cx="7589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EA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1-м порядке это точно равно учебной формуле ОТО.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EA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Разница ~8·10⁻¹⁰ от эффекта — ниже точности измерений.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EA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Это проверка на согласованность, не различающее предсказание.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0624"/>
            <a:ext cx="146304" cy="146304"/>
          </a:xfrm>
          <a:prstGeom prst="rect">
            <a:avLst/>
          </a:prstGeom>
          <a:solidFill>
            <a:srgbClr val="F4B740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3657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 4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EAEEF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Слово философу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8046720" cy="914400"/>
          </a:xfrm>
          <a:prstGeom prst="rect">
            <a:avLst/>
          </a:prstGeom>
          <a:solidFill>
            <a:srgbClr val="1A2147"/>
          </a:solidFill>
          <a:ln w="12700">
            <a:solidFill>
              <a:srgbClr val="2E38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883664"/>
            <a:ext cx="347472" cy="347472"/>
          </a:xfrm>
          <a:prstGeom prst="ellipse">
            <a:avLst/>
          </a:prstGeom>
          <a:solidFill>
            <a:srgbClr val="47D6C3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8836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E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80160" y="1600200"/>
            <a:ext cx="7178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47D6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мы реально предположили?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EA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Сохранение, замыкание, изотропия, «простейшая форма». Закрался ли ОТО через κ = vₑ/c — или это честный мост?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633472"/>
            <a:ext cx="8046720" cy="914400"/>
          </a:xfrm>
          <a:prstGeom prst="rect">
            <a:avLst/>
          </a:prstGeom>
          <a:solidFill>
            <a:srgbClr val="1A2147"/>
          </a:solidFill>
          <a:ln w="12700">
            <a:solidFill>
              <a:srgbClr val="2E386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2916936"/>
            <a:ext cx="347472" cy="347472"/>
          </a:xfrm>
          <a:prstGeom prst="ellipse">
            <a:avLst/>
          </a:prstGeom>
          <a:solidFill>
            <a:srgbClr val="47D6C3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9169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E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80160" y="2633472"/>
            <a:ext cx="7178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47D6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Вывод или перепараметризация?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EA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Породить форму обоих факторов одним приёмом — это объединение или элегантная перезапись? Острее всего — фактор 2.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3666744"/>
            <a:ext cx="8046720" cy="914400"/>
          </a:xfrm>
          <a:prstGeom prst="rect">
            <a:avLst/>
          </a:prstGeom>
          <a:solidFill>
            <a:srgbClr val="1A2147"/>
          </a:solidFill>
          <a:ln w="12700">
            <a:solidFill>
              <a:srgbClr val="2E386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" y="3950208"/>
            <a:ext cx="347472" cy="347472"/>
          </a:xfrm>
          <a:prstGeom prst="ellipse">
            <a:avLst/>
          </a:prstGeom>
          <a:solidFill>
            <a:srgbClr val="47D6C3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9502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E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80160" y="3666744"/>
            <a:ext cx="7178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47D6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бы различило теории?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EA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Только сильные поля (κ² или β² ≈ 1), где сложение и умножение проекций расходятся.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E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914400"/>
            <a:ext cx="457200" cy="54864"/>
          </a:xfrm>
          <a:prstGeom prst="rect">
            <a:avLst/>
          </a:prstGeom>
          <a:solidFill>
            <a:srgbClr val="F4B740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09728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EAEEF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Критерий успеха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196596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Эксперимент удался, если он: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37744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EA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 переписывает оба фактора, и</a:t>
            </a:r>
            <a:endParaRPr lang="en-US" sz="17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EA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чётко указывает, где находятся мосты.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22960" y="3611880"/>
            <a:ext cx="7498080" cy="960120"/>
          </a:xfrm>
          <a:prstGeom prst="rect">
            <a:avLst/>
          </a:prstGeom>
          <a:solidFill>
            <a:srgbClr val="1A2147"/>
          </a:solidFill>
          <a:ln w="12700">
            <a:solidFill>
              <a:srgbClr val="2E386B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51560" y="3611880"/>
            <a:ext cx="7040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Даже вывод «это лишь перепараметризация» — настоящий результат.</a:t>
            </a:r>
            <a:endParaRPr lang="en-US" sz="16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400" i="1" dirty="0">
                <a:solidFill>
                  <a:srgbClr val="9A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Подтверждение и фальсификация одинаково ценны.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Вывод ОТО из одного приёма — шпаргалка ведущего</dc:title>
  <dc:subject>PptxGenJS Presentation</dc:subject>
  <dc:creator>WILL RG</dc:creator>
  <cp:lastModifiedBy>WILL RG</cp:lastModifiedBy>
  <cp:revision>1</cp:revision>
  <dcterms:created xsi:type="dcterms:W3CDTF">2026-05-22T03:10:48Z</dcterms:created>
  <dcterms:modified xsi:type="dcterms:W3CDTF">2026-05-22T03:10:48Z</dcterms:modified>
</cp:coreProperties>
</file>